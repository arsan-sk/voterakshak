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256" r:id="rId5"/>
    <p:sldId id="285" r:id="rId6"/>
    <p:sldId id="297" r:id="rId7"/>
    <p:sldId id="286" r:id="rId8"/>
    <p:sldId id="318" r:id="rId9"/>
    <p:sldId id="298" r:id="rId10"/>
    <p:sldId id="287" r:id="rId11"/>
    <p:sldId id="316" r:id="rId12"/>
    <p:sldId id="317" r:id="rId13"/>
    <p:sldId id="301" r:id="rId14"/>
    <p:sldId id="288" r:id="rId15"/>
    <p:sldId id="302" r:id="rId16"/>
    <p:sldId id="289" r:id="rId17"/>
    <p:sldId id="303" r:id="rId18"/>
    <p:sldId id="291" r:id="rId19"/>
    <p:sldId id="304" r:id="rId20"/>
    <p:sldId id="290" r:id="rId21"/>
    <p:sldId id="305" r:id="rId22"/>
    <p:sldId id="295" r:id="rId23"/>
    <p:sldId id="306" r:id="rId24"/>
    <p:sldId id="296" r:id="rId25"/>
    <p:sldId id="312" r:id="rId26"/>
    <p:sldId id="314" r:id="rId27"/>
    <p:sldId id="309" r:id="rId28"/>
    <p:sldId id="308" r:id="rId29"/>
    <p:sldId id="307" r:id="rId30"/>
    <p:sldId id="293" r:id="rId31"/>
    <p:sldId id="310" r:id="rId32"/>
    <p:sldId id="300" r:id="rId33"/>
    <p:sldId id="311" r:id="rId34"/>
    <p:sldId id="292" r:id="rId35"/>
    <p:sldId id="28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45"/>
    <a:srgbClr val="D24726"/>
    <a:srgbClr val="DD462F"/>
    <a:srgbClr val="404040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41" autoAdjust="0"/>
  </p:normalViewPr>
  <p:slideViewPr>
    <p:cSldViewPr snapToGrid="0" showGuides="1">
      <p:cViewPr varScale="1">
        <p:scale>
          <a:sx n="78" d="100"/>
          <a:sy n="78" d="100"/>
        </p:scale>
        <p:origin x="878" y="72"/>
      </p:cViewPr>
      <p:guideLst>
        <p:guide orient="horz" pos="2160"/>
        <p:guide pos="38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aseline="0" dirty="0"/>
              <a:t>Slide Show mode, select the arrows to visit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32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345" y="265430"/>
            <a:ext cx="10385425" cy="1468120"/>
          </a:xfrm>
        </p:spPr>
        <p:txBody>
          <a:bodyPr anchor="ctr" anchorCtr="0"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AIKTC – Anjuman-I-Islam’s </a:t>
            </a:r>
            <a:r>
              <a:rPr lang="en-US" sz="4000" b="1" dirty="0" err="1">
                <a:solidFill>
                  <a:schemeClr val="bg1"/>
                </a:solidFill>
              </a:rPr>
              <a:t>Kalsekar</a:t>
            </a:r>
            <a:r>
              <a:rPr lang="en-US" sz="4000" b="1" dirty="0">
                <a:solidFill>
                  <a:schemeClr val="bg1"/>
                </a:solidFill>
              </a:rPr>
              <a:t> Technical Campus.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Department of Electronics and Computer Science Engineering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10" y="1188720"/>
            <a:ext cx="1582420" cy="166751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1709852" y="1880591"/>
            <a:ext cx="9017285" cy="218529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hangingPunct="1"/>
            <a:r>
              <a:rPr lang="en-IN" altLang="en-US" dirty="0">
                <a:solidFill>
                  <a:schemeClr val="bg1"/>
                </a:solidFill>
              </a:rPr>
              <a:t> </a:t>
            </a:r>
            <a:r>
              <a:rPr lang="en-US" altLang="en-IN" sz="3900" b="1" dirty="0">
                <a:solidFill>
                  <a:schemeClr val="bg1"/>
                </a:solidFill>
              </a:rPr>
              <a:t>T</a:t>
            </a:r>
            <a:r>
              <a:rPr lang="en-IN" altLang="en-US" sz="3900" b="1" dirty="0">
                <a:solidFill>
                  <a:schemeClr val="bg1"/>
                </a:solidFill>
              </a:rPr>
              <a:t>E Mini Project-</a:t>
            </a:r>
            <a:r>
              <a:rPr lang="en-US" altLang="en-IN" sz="3900" b="1" dirty="0">
                <a:solidFill>
                  <a:schemeClr val="bg1"/>
                </a:solidFill>
              </a:rPr>
              <a:t>2</a:t>
            </a:r>
            <a:r>
              <a:rPr lang="en-IN" altLang="en-US" sz="3900" b="1" dirty="0">
                <a:solidFill>
                  <a:schemeClr val="bg1"/>
                </a:solidFill>
              </a:rPr>
              <a:t>B  </a:t>
            </a:r>
          </a:p>
          <a:p>
            <a:pPr algn="ctr" eaLnBrk="1" hangingPunct="1"/>
            <a:r>
              <a:rPr lang="en-US" altLang="en-IN" sz="3900" b="1" dirty="0">
                <a:solidFill>
                  <a:schemeClr val="bg1"/>
                </a:solidFill>
              </a:rPr>
              <a:t>Final </a:t>
            </a:r>
            <a:r>
              <a:rPr lang="en-IN" altLang="en-US" sz="3900" b="1" dirty="0">
                <a:solidFill>
                  <a:schemeClr val="bg1"/>
                </a:solidFill>
              </a:rPr>
              <a:t>Presentation </a:t>
            </a:r>
          </a:p>
          <a:p>
            <a:pPr algn="ctr" eaLnBrk="1" hangingPunct="1"/>
            <a:r>
              <a:rPr lang="en-IN" altLang="en-US" i="1" dirty="0">
                <a:solidFill>
                  <a:schemeClr val="bg1"/>
                </a:solidFill>
              </a:rPr>
              <a:t>On</a:t>
            </a:r>
          </a:p>
          <a:p>
            <a:pPr algn="ctr" eaLnBrk="1" hangingPunct="1"/>
            <a:r>
              <a:rPr lang="en-IN" altLang="en-US" sz="3200" i="1" dirty="0">
                <a:solidFill>
                  <a:schemeClr val="bg1"/>
                </a:solidFill>
              </a:rPr>
              <a:t>“Biometric Enabled Decentralized Voting System”</a:t>
            </a:r>
          </a:p>
          <a:p>
            <a:pPr algn="ctr" eaLnBrk="1" hangingPunct="1"/>
            <a:r>
              <a:rPr lang="en-IN" altLang="en-US" sz="3200" dirty="0">
                <a:solidFill>
                  <a:schemeClr val="bg1"/>
                </a:solidFill>
              </a:rPr>
              <a:t>By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390419" y="5445327"/>
            <a:ext cx="11485652" cy="56336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24957" y="5632987"/>
            <a:ext cx="5616575" cy="11382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IN" altLang="en-US" sz="25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Guided by </a:t>
            </a:r>
          </a:p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IN" altLang="en-US" sz="25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Prof. Ismaeel Shaikh</a:t>
            </a:r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4544E358-5F8B-58DB-9609-83CF3A80985F}"/>
              </a:ext>
            </a:extLst>
          </p:cNvPr>
          <p:cNvSpPr txBox="1"/>
          <p:nvPr/>
        </p:nvSpPr>
        <p:spPr>
          <a:xfrm>
            <a:off x="1827530" y="4001771"/>
            <a:ext cx="92519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Roll No.                		23EC23</a:t>
            </a: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</a:rPr>
              <a:t>, 23EC14, 23EC57, 23EC59</a:t>
            </a: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                         </a:t>
            </a:r>
            <a:r>
              <a:rPr lang="en-US" altLang="en-IN" sz="20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     </a:t>
            </a: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  </a:t>
            </a:r>
            <a:r>
              <a:rPr lang="en-US" altLang="en-IN" sz="20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       </a:t>
            </a:r>
          </a:p>
          <a:p>
            <a:pPr eaLnBrk="1" hangingPunct="1">
              <a:defRPr/>
            </a:pP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Name of </a:t>
            </a: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Arial" panose="020B0604020202020204" pitchFamily="34" charset="0"/>
              </a:rPr>
              <a:t>Students. 	Kalsekar Abdul Rehman Abdul Alim,  </a:t>
            </a:r>
          </a:p>
          <a:p>
            <a:pPr eaLnBrk="1" hangingPunct="1">
              <a:defRPr/>
            </a:pP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Arial" panose="020B0604020202020204" pitchFamily="34" charset="0"/>
              </a:rPr>
              <a:t>			Ansari Mohd Adnan Mohd Ali, </a:t>
            </a:r>
          </a:p>
          <a:p>
            <a:pPr eaLnBrk="1" hangingPunct="1">
              <a:defRPr/>
            </a:pP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Arial" panose="020B0604020202020204" pitchFamily="34" charset="0"/>
              </a:rPr>
              <a:t>			Shaikh Mohd Affan Mohd Umar, </a:t>
            </a:r>
          </a:p>
          <a:p>
            <a:pPr eaLnBrk="1" hangingPunct="1">
              <a:defRPr/>
            </a:pP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Arial" panose="020B0604020202020204" pitchFamily="34" charset="0"/>
              </a:rPr>
              <a:t>			Shaikh Mohd Arsan Abdul Sattar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Outline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4070" y="1213485"/>
            <a:ext cx="10463530" cy="4700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existing systems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Methodology/ Techniques</a:t>
            </a:r>
            <a:endParaRPr lang="en-I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and Architecture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r>
              <a:rPr lang="en-US" alt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/ Output Screenshots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Roadmap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9580" y="0"/>
            <a:ext cx="1582420" cy="1667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255" y="2587625"/>
            <a:ext cx="8649970" cy="2280920"/>
          </a:xfrm>
        </p:spPr>
        <p:txBody>
          <a:bodyPr/>
          <a:lstStyle/>
          <a:p>
            <a:r>
              <a:rPr lang="en-US" sz="9600" b="1" dirty="0">
                <a:latin typeface="Segoe UI Light" panose="020B0502040204020203" pitchFamily="34" charset="0"/>
                <a:cs typeface="Segoe UI Light" panose="020B0502040204020203" pitchFamily="34" charset="0"/>
                <a:sym typeface="+mn-ea"/>
              </a:rPr>
              <a:t>Introduction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9580" y="0"/>
            <a:ext cx="1582420" cy="1667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Introduction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4209" y="1213778"/>
            <a:ext cx="10922162" cy="458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400" dirty="0"/>
              <a:t>1. This project proposes a Biometric-Enabled Blockchain-Based Decentralized Voting System designed to improve transparency, security, and trust in digital elections.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/>
              <a:t>2. The system uses Aadhaar-based identity verification combined with biometric authentication (fingerprint scanner) to ensure that only legitimate voters can cast votes.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/>
              <a:t>3. Voter authentication is performed off-chain, ensuring sensitive biometric data is never stored publicly, thereby protecting privacy.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/>
              <a:t>4. After successful biometric verification, the voter is presented with a secure polling interface displaying voter details and party options.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/>
              <a:t>5. Before final vote submission, the system performs second-level biometric confirmation, ensuring strong identity validation and preventing unauthorized voting.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/>
              <a:t>6. Only essential voting data (voter identifier and selected party reference) is stored on-chain, enabling immutability, auditability, and transparency.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/>
              <a:t>7. Blockchain technology prevents vote tampering, double voting, and unauthorized data modification by using decentralized consensus mechanisms.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/>
              <a:t>8. The system integrates modern web technologies (React, TypeScript, JavaScript) with biometric hardware (</a:t>
            </a:r>
            <a:r>
              <a:rPr lang="en-US" altLang="en-US" sz="1400" dirty="0" err="1"/>
              <a:t>SecuGen</a:t>
            </a:r>
            <a:r>
              <a:rPr lang="en-US" altLang="en-US" sz="1400" dirty="0"/>
              <a:t> scanner) for practical implementation.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/>
              <a:t>9. The proposed architecture separates authentication and vote storage to balance privacy, scalability, and trust.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185" y="0"/>
            <a:ext cx="1186815" cy="1250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94968-7ADF-C930-13BF-B290982D1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986B-2AF5-BE2C-C978-D0DD9BD9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Introduction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C22005C-FC02-12D5-86C2-32AD96FAF20D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6751060-CDAF-1433-E32E-7F5A7B46F7B6}"/>
              </a:ext>
            </a:extLst>
          </p:cNvPr>
          <p:cNvSpPr txBox="1"/>
          <p:nvPr/>
        </p:nvSpPr>
        <p:spPr>
          <a:xfrm>
            <a:off x="634919" y="1536192"/>
            <a:ext cx="10922162" cy="33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b="1" dirty="0"/>
              <a:t>Objectives</a:t>
            </a:r>
            <a:r>
              <a:rPr lang="en-US" altLang="en-US" dirty="0"/>
              <a:t>: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 design a secure decentralized voting framework using blockchain technology.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 integrate biometric authentication for strong voter identity verification.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To implement off-chain biometric verification for privacy protection and reduced blockchain overhead.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To prevent electoral fraud such as impersonation, duplicate voting, or unauthorized access.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To provide transparent and immutable vote storage using blockchain smart contracts.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To ensure voter confidence through verifiable and tamper-proof election records.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To create a scalable architecture suitable for real-world deployment in large democracies.</a:t>
            </a:r>
          </a:p>
          <a:p>
            <a:pPr algn="just">
              <a:lnSpc>
                <a:spcPct val="150000"/>
              </a:lnSpc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To explore integration between national identity systems (e.g., Aadhaar-like frameworks) and secure digital governance.</a:t>
            </a:r>
          </a:p>
          <a:p>
            <a:pPr algn="just">
              <a:lnSpc>
                <a:spcPct val="150000"/>
              </a:lnSpc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4BBFC7-5D54-CAB7-6053-1036BFE44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5185" y="0"/>
            <a:ext cx="1186815" cy="125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16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70" y="2788920"/>
            <a:ext cx="8194675" cy="1724025"/>
          </a:xfrm>
        </p:spPr>
        <p:txBody>
          <a:bodyPr/>
          <a:lstStyle/>
          <a:p>
            <a:r>
              <a:rPr lang="en-US" sz="7200" b="1" dirty="0">
                <a:latin typeface="Segoe UI Light" panose="020B0502040204020203" pitchFamily="34" charset="0"/>
                <a:cs typeface="Segoe UI Light" panose="020B0502040204020203" pitchFamily="34" charset="0"/>
                <a:sym typeface="+mn-ea"/>
              </a:rPr>
              <a:t>Literature Survey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45" y="0"/>
            <a:ext cx="1113155" cy="117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552" y="29311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Literature Survey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4209" y="1213778"/>
            <a:ext cx="1038483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7F0C01-B833-CDC5-14BF-D85480D23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004675"/>
              </p:ext>
            </p:extLst>
          </p:nvPr>
        </p:nvGraphicFramePr>
        <p:xfrm>
          <a:off x="390419" y="1375681"/>
          <a:ext cx="11300136" cy="4558849"/>
        </p:xfrm>
        <a:graphic>
          <a:graphicData uri="http://schemas.openxmlformats.org/drawingml/2006/table">
            <a:tbl>
              <a:tblPr/>
              <a:tblGrid>
                <a:gridCol w="946852">
                  <a:extLst>
                    <a:ext uri="{9D8B030D-6E8A-4147-A177-3AD203B41FA5}">
                      <a16:colId xmlns:a16="http://schemas.microsoft.com/office/drawing/2014/main" val="764155702"/>
                    </a:ext>
                  </a:extLst>
                </a:gridCol>
                <a:gridCol w="2713619">
                  <a:extLst>
                    <a:ext uri="{9D8B030D-6E8A-4147-A177-3AD203B41FA5}">
                      <a16:colId xmlns:a16="http://schemas.microsoft.com/office/drawing/2014/main" val="2874658253"/>
                    </a:ext>
                  </a:extLst>
                </a:gridCol>
                <a:gridCol w="3057833">
                  <a:extLst>
                    <a:ext uri="{9D8B030D-6E8A-4147-A177-3AD203B41FA5}">
                      <a16:colId xmlns:a16="http://schemas.microsoft.com/office/drawing/2014/main" val="695661954"/>
                    </a:ext>
                  </a:extLst>
                </a:gridCol>
                <a:gridCol w="4581832">
                  <a:extLst>
                    <a:ext uri="{9D8B030D-6E8A-4147-A177-3AD203B41FA5}">
                      <a16:colId xmlns:a16="http://schemas.microsoft.com/office/drawing/2014/main" val="1240994666"/>
                    </a:ext>
                  </a:extLst>
                </a:gridCol>
              </a:tblGrid>
              <a:tr h="62921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SR. NO.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  AUTHOR &amp; YEAR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METHOD / TECHNIQUE USED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11497"/>
                  </a:ext>
                </a:extLst>
              </a:tr>
              <a:tr h="23625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Faruk, M. J. H., Alam, F., Islam, M., et al. (2024). Transforming online voting: a novel system utilizing blockchain and biometric verification for enhanced security, privacy, and transparency. Cluster Computing.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Uses Hyperledger Fabric blockchain with biometric verification (fingerprint/face recognition). Identity is verified before vote casting and vote records are stored immutably on blockchain.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Does not clearly separate off-chain authentication and on-chain voting; no Aadhaar/national-ID integration; lacks double biometric confirmation before vote commit.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356336"/>
                  </a:ext>
                </a:extLst>
              </a:tr>
              <a:tr h="1567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Peace engineering: The contribution of blockchain systems to the e-voting process (2021). Technological Forecasting &amp; Social Change.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Conceptual analysis of how blockchain improves transparency, trust, and election security.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Theoretical work only; lacks implementation details, biometric integration, and authentication workflow.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3596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373E0-D5AB-EF45-F16D-4EC85463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18873-C385-F012-245C-8858F03D2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552" y="29311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Literature Survey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210E1A7-1089-33D6-8606-144B1988DDC6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524D920-7363-5253-F05E-10D3CD62EDFB}"/>
              </a:ext>
            </a:extLst>
          </p:cNvPr>
          <p:cNvSpPr txBox="1"/>
          <p:nvPr/>
        </p:nvSpPr>
        <p:spPr>
          <a:xfrm>
            <a:off x="814209" y="1213778"/>
            <a:ext cx="1038483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29B693-4EFB-7501-32D8-6BF21C76E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0BEB4F-6B5D-B597-3650-EF0CFB343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768239"/>
              </p:ext>
            </p:extLst>
          </p:nvPr>
        </p:nvGraphicFramePr>
        <p:xfrm>
          <a:off x="390419" y="1375681"/>
          <a:ext cx="11300136" cy="4558849"/>
        </p:xfrm>
        <a:graphic>
          <a:graphicData uri="http://schemas.openxmlformats.org/drawingml/2006/table">
            <a:tbl>
              <a:tblPr/>
              <a:tblGrid>
                <a:gridCol w="946852">
                  <a:extLst>
                    <a:ext uri="{9D8B030D-6E8A-4147-A177-3AD203B41FA5}">
                      <a16:colId xmlns:a16="http://schemas.microsoft.com/office/drawing/2014/main" val="764155702"/>
                    </a:ext>
                  </a:extLst>
                </a:gridCol>
                <a:gridCol w="2330161">
                  <a:extLst>
                    <a:ext uri="{9D8B030D-6E8A-4147-A177-3AD203B41FA5}">
                      <a16:colId xmlns:a16="http://schemas.microsoft.com/office/drawing/2014/main" val="2874658253"/>
                    </a:ext>
                  </a:extLst>
                </a:gridCol>
                <a:gridCol w="4090220">
                  <a:extLst>
                    <a:ext uri="{9D8B030D-6E8A-4147-A177-3AD203B41FA5}">
                      <a16:colId xmlns:a16="http://schemas.microsoft.com/office/drawing/2014/main" val="695661954"/>
                    </a:ext>
                  </a:extLst>
                </a:gridCol>
                <a:gridCol w="3932903">
                  <a:extLst>
                    <a:ext uri="{9D8B030D-6E8A-4147-A177-3AD203B41FA5}">
                      <a16:colId xmlns:a16="http://schemas.microsoft.com/office/drawing/2014/main" val="1240994666"/>
                    </a:ext>
                  </a:extLst>
                </a:gridCol>
              </a:tblGrid>
              <a:tr h="62921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SR. NO.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  AUTHOR &amp; YEAR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METHOD / TECHNIQUE USED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11497"/>
                  </a:ext>
                </a:extLst>
              </a:tr>
              <a:tr h="23625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E-voting system using cloud-based hybrid blockchain technology (2024). Journal of Network and Systems Security Research.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Uses hybrid blockchain architecture with digital signatures and cloud-based infrastructure for scalable voting.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Authentication relies on digital signatures; no biometric hardware integration or off-chain identity verification.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356336"/>
                  </a:ext>
                </a:extLst>
              </a:tr>
              <a:tr h="1567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 Blockchain-Based E-Voting System for India: Addressing Security Challenges with Aadhaar Card Authentication (IEEE Conference).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Integrates Aadhaar-based identity verification with blockchain voting framework for Indian election context.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Aadhaar mostly used at registration stage; no repeated biometric verification or explicit off-chain authentication model.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359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1210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CD705-DF7C-2624-B9FF-57184786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1544-CFF0-0C1B-C068-918FA4067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552" y="29311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Literature Survey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59C9181-E654-9E08-7E3F-6E7B409E4245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48C3DEE-26F5-9D19-C2F8-E90D76343B0D}"/>
              </a:ext>
            </a:extLst>
          </p:cNvPr>
          <p:cNvSpPr txBox="1"/>
          <p:nvPr/>
        </p:nvSpPr>
        <p:spPr>
          <a:xfrm>
            <a:off x="814209" y="1213778"/>
            <a:ext cx="1038483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E0D3DA-A30E-C30B-D9A0-C515C14DE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4760CA-A045-C548-80FE-48D8ABE46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909679"/>
              </p:ext>
            </p:extLst>
          </p:nvPr>
        </p:nvGraphicFramePr>
        <p:xfrm>
          <a:off x="390419" y="1375681"/>
          <a:ext cx="11300136" cy="4558849"/>
        </p:xfrm>
        <a:graphic>
          <a:graphicData uri="http://schemas.openxmlformats.org/drawingml/2006/table">
            <a:tbl>
              <a:tblPr/>
              <a:tblGrid>
                <a:gridCol w="946852">
                  <a:extLst>
                    <a:ext uri="{9D8B030D-6E8A-4147-A177-3AD203B41FA5}">
                      <a16:colId xmlns:a16="http://schemas.microsoft.com/office/drawing/2014/main" val="764155702"/>
                    </a:ext>
                  </a:extLst>
                </a:gridCol>
                <a:gridCol w="2448148">
                  <a:extLst>
                    <a:ext uri="{9D8B030D-6E8A-4147-A177-3AD203B41FA5}">
                      <a16:colId xmlns:a16="http://schemas.microsoft.com/office/drawing/2014/main" val="2874658253"/>
                    </a:ext>
                  </a:extLst>
                </a:gridCol>
                <a:gridCol w="3323304">
                  <a:extLst>
                    <a:ext uri="{9D8B030D-6E8A-4147-A177-3AD203B41FA5}">
                      <a16:colId xmlns:a16="http://schemas.microsoft.com/office/drawing/2014/main" val="695661954"/>
                    </a:ext>
                  </a:extLst>
                </a:gridCol>
                <a:gridCol w="4581832">
                  <a:extLst>
                    <a:ext uri="{9D8B030D-6E8A-4147-A177-3AD203B41FA5}">
                      <a16:colId xmlns:a16="http://schemas.microsoft.com/office/drawing/2014/main" val="1240994666"/>
                    </a:ext>
                  </a:extLst>
                </a:gridCol>
              </a:tblGrid>
              <a:tr h="62921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SR. NO.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  AUTHOR &amp; YEAR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METHOD / TECHNIQUE USED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11497"/>
                  </a:ext>
                </a:extLst>
              </a:tr>
              <a:tr h="23625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BlockVOTE: An Architecture of a Blockchain-based Electronic Voting System (IEEE).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Provides blockchain architecture emphasizing immutability, auditability, and smart-contract-driven voting.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Focuses on blockchain layer only; does not solve voter authentication or biometric validation.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356336"/>
                  </a:ext>
                </a:extLst>
              </a:tr>
              <a:tr h="1567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Secure E-Voting System using Blockchain Technology and Authentication via Face Recognition and Mobile OTP (IEEE).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Uses face recognition and OTP-based authentication before vote submission to blockchain.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Software-based authentication only; no hardware biometrics, Aadhaar integration, or off-chain privacy-preserving verification.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359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67305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70" y="2788920"/>
            <a:ext cx="11138535" cy="1724025"/>
          </a:xfrm>
        </p:spPr>
        <p:txBody>
          <a:bodyPr>
            <a:normAutofit fontScale="90000"/>
          </a:bodyPr>
          <a:lstStyle/>
          <a:p>
            <a:r>
              <a:rPr lang="en-US" sz="7200" b="1" dirty="0">
                <a:latin typeface="Segoe UI Light" panose="020B0502040204020203" pitchFamily="34" charset="0"/>
                <a:cs typeface="Segoe UI Light" panose="020B0502040204020203" pitchFamily="34" charset="0"/>
                <a:sym typeface="+mn-ea"/>
              </a:rPr>
              <a:t>Limitations of Existing System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45" y="0"/>
            <a:ext cx="1113155" cy="117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Limitations of Existing System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3D2F09-1282-FBF5-5B6D-EF20729F1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337051"/>
              </p:ext>
            </p:extLst>
          </p:nvPr>
        </p:nvGraphicFramePr>
        <p:xfrm>
          <a:off x="674749" y="1363223"/>
          <a:ext cx="10681509" cy="4351339"/>
        </p:xfrm>
        <a:graphic>
          <a:graphicData uri="http://schemas.openxmlformats.org/drawingml/2006/table">
            <a:tbl>
              <a:tblPr/>
              <a:tblGrid>
                <a:gridCol w="10681509">
                  <a:extLst>
                    <a:ext uri="{9D8B030D-6E8A-4147-A177-3AD203B41FA5}">
                      <a16:colId xmlns:a16="http://schemas.microsoft.com/office/drawing/2014/main" val="379950126"/>
                    </a:ext>
                  </a:extLst>
                </a:gridCol>
              </a:tblGrid>
              <a:tr h="1062474">
                <a:tc>
                  <a:txBody>
                    <a:bodyPr/>
                    <a:lstStyle/>
                    <a:p>
                      <a:pPr marL="342900" indent="-342900" algn="l" font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Does not clearly separate off-chain authentication and on-chain voting; no Aadhaar/national-ID integration; lacks double biometric confirmation before vote commit.</a:t>
                      </a:r>
                    </a:p>
                  </a:txBody>
                  <a:tcPr marL="5339" marR="5339" marT="53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316868"/>
                  </a:ext>
                </a:extLst>
              </a:tr>
              <a:tr h="704757">
                <a:tc>
                  <a:txBody>
                    <a:bodyPr/>
                    <a:lstStyle/>
                    <a:p>
                      <a:pPr marL="342900" indent="-342900" algn="l" font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Theoretical work only; lacks implementation details, biometric integration, and authentication workflow.</a:t>
                      </a:r>
                    </a:p>
                  </a:txBody>
                  <a:tcPr marL="5339" marR="5339" marT="53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66448"/>
                  </a:ext>
                </a:extLst>
              </a:tr>
              <a:tr h="587297">
                <a:tc>
                  <a:txBody>
                    <a:bodyPr/>
                    <a:lstStyle/>
                    <a:p>
                      <a:pPr marL="342900" indent="-342900" algn="l" font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Authentication relies on digital signatures; no biometric hardware integration or off-chain identity verification.</a:t>
                      </a:r>
                    </a:p>
                  </a:txBody>
                  <a:tcPr marL="5339" marR="5339" marT="53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959366"/>
                  </a:ext>
                </a:extLst>
              </a:tr>
              <a:tr h="704757">
                <a:tc>
                  <a:txBody>
                    <a:bodyPr/>
                    <a:lstStyle/>
                    <a:p>
                      <a:pPr marL="342900" indent="-342900" algn="l" font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Aadhaar mostly used at registration stage; no repeated biometric verification or explicit off-chain authentication model.</a:t>
                      </a:r>
                    </a:p>
                  </a:txBody>
                  <a:tcPr marL="5339" marR="5339" marT="53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717667"/>
                  </a:ext>
                </a:extLst>
              </a:tr>
              <a:tr h="587297">
                <a:tc>
                  <a:txBody>
                    <a:bodyPr/>
                    <a:lstStyle/>
                    <a:p>
                      <a:pPr marL="342900" indent="-342900" algn="l" font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Focuses on blockchain layer only; does not solve voter authentication or biometric validation.</a:t>
                      </a:r>
                    </a:p>
                  </a:txBody>
                  <a:tcPr marL="5339" marR="5339" marT="53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413676"/>
                  </a:ext>
                </a:extLst>
              </a:tr>
              <a:tr h="704757">
                <a:tc>
                  <a:txBody>
                    <a:bodyPr/>
                    <a:lstStyle/>
                    <a:p>
                      <a:pPr marL="342900" indent="-342900" algn="l" font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Software-based authentication only; no hardware biometrics, Aadhaar integration, or off-chain privacy-preserving verification.</a:t>
                      </a:r>
                    </a:p>
                  </a:txBody>
                  <a:tcPr marL="5339" marR="5339" marT="533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50967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70" y="2788920"/>
            <a:ext cx="11138535" cy="1724025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Segoe UI Light" panose="020B0502040204020203" pitchFamily="34" charset="0"/>
                <a:cs typeface="Segoe UI Light" panose="020B0502040204020203" pitchFamily="34" charset="0"/>
                <a:sym typeface="+mn-ea"/>
              </a:rPr>
              <a:t>Problem Statement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45" y="0"/>
            <a:ext cx="1113155" cy="117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Problem Statement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8852" y="3075057"/>
            <a:ext cx="106487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Biometric Enabled Decentralized Voting System</a:t>
            </a:r>
            <a:r>
              <a:rPr lang="en-GB" altLang="en-US" sz="2000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70" y="2788920"/>
            <a:ext cx="11138535" cy="1724025"/>
          </a:xfrm>
        </p:spPr>
        <p:txBody>
          <a:bodyPr>
            <a:normAutofit fontScale="90000"/>
          </a:bodyPr>
          <a:lstStyle/>
          <a:p>
            <a:r>
              <a:rPr lang="en-US" sz="7200" b="1" dirty="0">
                <a:latin typeface="Segoe UI Light" panose="020B0502040204020203" pitchFamily="34" charset="0"/>
                <a:cs typeface="Segoe UI Light" panose="020B0502040204020203" pitchFamily="34" charset="0"/>
                <a:sym typeface="+mn-ea"/>
              </a:rPr>
              <a:t>Proposed Methodology / Techniques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45" y="0"/>
            <a:ext cx="1113155" cy="117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Proposed Methodology /Techniques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966" y="1468301"/>
            <a:ext cx="10827894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en-US" sz="2000" dirty="0"/>
              <a:t>All techniques / methods / algorithms along with their technical details need to be explained in detail.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altLang="en-US" sz="2000" dirty="0"/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70" y="2788920"/>
            <a:ext cx="11138535" cy="1724025"/>
          </a:xfrm>
        </p:spPr>
        <p:txBody>
          <a:bodyPr>
            <a:normAutofit fontScale="90000"/>
          </a:bodyPr>
          <a:lstStyle/>
          <a:p>
            <a:r>
              <a:rPr lang="en-US" sz="7200" b="1" dirty="0">
                <a:latin typeface="Segoe UI Light" panose="020B0502040204020203" pitchFamily="34" charset="0"/>
                <a:cs typeface="Segoe UI Light" panose="020B0502040204020203" pitchFamily="34" charset="0"/>
                <a:sym typeface="+mn-ea"/>
              </a:rPr>
              <a:t>System Design and Architecture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45" y="0"/>
            <a:ext cx="1113155" cy="117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System Design and Architecture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4208" y="1213778"/>
            <a:ext cx="102528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Provide and explain</a:t>
            </a:r>
            <a:r>
              <a:rPr lang="en-GB" altLang="en-US" sz="2000" dirty="0"/>
              <a:t> general architecture diagram / abstract diagram / modular diagram</a:t>
            </a:r>
            <a:endParaRPr lang="en-IN" alt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Provide details about the major components or modules and their functions.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70" y="2788920"/>
            <a:ext cx="11138535" cy="1724025"/>
          </a:xfrm>
        </p:spPr>
        <p:txBody>
          <a:bodyPr>
            <a:normAutofit fontScale="90000"/>
          </a:bodyPr>
          <a:lstStyle/>
          <a:p>
            <a:r>
              <a:rPr lang="en-US" sz="7200" b="1" dirty="0">
                <a:latin typeface="Segoe UI Light" panose="020B0502040204020203" pitchFamily="34" charset="0"/>
                <a:cs typeface="Segoe UI Light" panose="020B0502040204020203" pitchFamily="34" charset="0"/>
                <a:sym typeface="+mn-ea"/>
              </a:rPr>
              <a:t>Implementation Details </a:t>
            </a:r>
            <a:r>
              <a:rPr lang="en-US" altLang="en-IN" sz="7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 </a:t>
            </a:r>
            <a:r>
              <a:rPr lang="en-US" alt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Tools &amp; Technologies Used</a:t>
            </a:r>
            <a:endParaRPr lang="en-US" sz="7200" b="1" dirty="0">
              <a:latin typeface="Segoe UI Light" panose="020B0502040204020203" pitchFamily="34" charset="0"/>
              <a:cs typeface="Segoe UI Light" panose="020B0502040204020203" pitchFamily="34" charset="0"/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45" y="0"/>
            <a:ext cx="1113155" cy="117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Implementation Details </a:t>
            </a:r>
            <a:r>
              <a:rPr lang="en-US" altLang="en-IN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Tools &amp; Technologies Used</a:t>
            </a:r>
            <a:endParaRPr lang="en-US" sz="32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966" y="1468301"/>
            <a:ext cx="1082789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Describe the </a:t>
            </a:r>
            <a:r>
              <a:rPr lang="en-US" sz="2000" b="1" dirty="0"/>
              <a:t>Technologies and Tools along with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Software Tools</a:t>
            </a:r>
            <a:r>
              <a:rPr lang="en-US" sz="2000" dirty="0"/>
              <a:t>: List the development tools, integrated development environments (IDEs), and software libraries used.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Hardware Components</a:t>
            </a:r>
            <a:r>
              <a:rPr lang="en-US" sz="2000" dirty="0"/>
              <a:t>: If applicable, describe any specific hardware used (e.g., sensors, processors).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70" y="2788920"/>
            <a:ext cx="11138535" cy="1724025"/>
          </a:xfrm>
        </p:spPr>
        <p:txBody>
          <a:bodyPr>
            <a:normAutofit fontScale="90000"/>
          </a:bodyPr>
          <a:lstStyle/>
          <a:p>
            <a:r>
              <a:rPr lang="en-US" sz="7200" b="1" dirty="0">
                <a:latin typeface="Segoe UI Light" panose="020B0502040204020203" pitchFamily="34" charset="0"/>
                <a:cs typeface="Segoe UI Light" panose="020B0502040204020203" pitchFamily="34" charset="0"/>
                <a:sym typeface="+mn-ea"/>
              </a:rPr>
              <a:t>Result Analysis </a:t>
            </a:r>
            <a:r>
              <a:rPr lang="en-US" alt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/ Output Screenshots</a:t>
            </a:r>
            <a:endParaRPr lang="en-US" sz="7200" b="1" dirty="0">
              <a:latin typeface="Segoe UI Light" panose="020B0502040204020203" pitchFamily="34" charset="0"/>
              <a:cs typeface="Segoe UI Light" panose="020B0502040204020203" pitchFamily="34" charset="0"/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45" y="0"/>
            <a:ext cx="1113155" cy="117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Result Analysis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/ Output Screenshots</a:t>
            </a:r>
            <a:endParaRPr lang="en-IN" sz="32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64349" y="1510559"/>
            <a:ext cx="10118510" cy="3977640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800" b="1" dirty="0"/>
              <a:t>Outcomes</a:t>
            </a:r>
            <a:r>
              <a:rPr lang="en-US" sz="2800" dirty="0"/>
              <a:t>: Present the results of your project. </a:t>
            </a:r>
          </a:p>
          <a:p>
            <a:pPr marL="342900" indent="-342900"/>
            <a:r>
              <a:rPr lang="en-US" sz="2800" b="1" dirty="0"/>
              <a:t>Demonstration</a:t>
            </a:r>
            <a:r>
              <a:rPr lang="en-US" sz="2800" dirty="0"/>
              <a:t>: Provide a demo or screenshots of your project in action.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70" y="2788920"/>
            <a:ext cx="8194675" cy="1724025"/>
          </a:xfrm>
        </p:spPr>
        <p:txBody>
          <a:bodyPr/>
          <a:lstStyle/>
          <a:p>
            <a:r>
              <a:rPr lang="en-US" sz="7200" b="1" dirty="0">
                <a:latin typeface="Segoe UI Light" panose="020B0502040204020203" pitchFamily="34" charset="0"/>
                <a:cs typeface="Segoe UI Light" panose="020B0502040204020203" pitchFamily="34" charset="0"/>
                <a:sym typeface="+mn-ea"/>
              </a:rPr>
              <a:t>Road Map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45" y="0"/>
            <a:ext cx="1113155" cy="117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Road Map</a:t>
            </a:r>
            <a:endParaRPr lang="en-IN" sz="32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45" y="1303020"/>
            <a:ext cx="6339840" cy="4521200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7594600" y="2252345"/>
            <a:ext cx="4597400" cy="16725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3200" i="1">
                <a:solidFill>
                  <a:schemeClr val="tx1"/>
                </a:solidFill>
                <a:highlight>
                  <a:srgbClr val="FF00FF"/>
                </a:highlight>
              </a:rPr>
              <a:t>https://app.diagrams.net/</a:t>
            </a:r>
          </a:p>
          <a:p>
            <a:endParaRPr lang="en-US" altLang="en-US" sz="3200" i="1">
              <a:solidFill>
                <a:schemeClr val="tx1"/>
              </a:solidFill>
              <a:highlight>
                <a:srgbClr val="FF00FF"/>
              </a:highlight>
            </a:endParaRPr>
          </a:p>
          <a:p>
            <a:r>
              <a:rPr lang="en-US" altLang="en-US" sz="3200" i="1">
                <a:solidFill>
                  <a:schemeClr val="tx1"/>
                </a:solidFill>
                <a:highlight>
                  <a:srgbClr val="FF00FF"/>
                </a:highlight>
              </a:rPr>
              <a:t>For reference only. You can also use Canva, etc.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70" y="2788920"/>
            <a:ext cx="11138535" cy="1724025"/>
          </a:xfrm>
        </p:spPr>
        <p:txBody>
          <a:bodyPr>
            <a:normAutofit/>
          </a:bodyPr>
          <a:lstStyle/>
          <a:p>
            <a:r>
              <a:rPr lang="en-US" altLang="en-US" sz="7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 &amp; Limitations</a:t>
            </a:r>
            <a:endParaRPr lang="en-US" sz="7200" b="1" dirty="0">
              <a:latin typeface="Segoe UI Light" panose="020B0502040204020203" pitchFamily="34" charset="0"/>
              <a:cs typeface="Segoe UI Light" panose="020B0502040204020203" pitchFamily="34" charset="0"/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45" y="0"/>
            <a:ext cx="1113155" cy="117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 &amp; Limitations</a:t>
            </a:r>
            <a:endParaRPr lang="en-IN" sz="32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64349" y="1510559"/>
            <a:ext cx="10118510" cy="3977640"/>
          </a:xfrm>
        </p:spPr>
        <p:txBody>
          <a:bodyPr>
            <a:normAutofit/>
          </a:bodyPr>
          <a:lstStyle/>
          <a:p>
            <a:pPr marL="342900" indent="-342900"/>
            <a:r>
              <a:rPr lang="en-US" altLang="en-US" sz="2800" b="1" dirty="0"/>
              <a:t>Advantages</a:t>
            </a:r>
            <a:r>
              <a:rPr lang="en-US" altLang="en-US" sz="2800" dirty="0"/>
              <a:t> – Highlights the strengths and benefits of the proposed system.</a:t>
            </a:r>
          </a:p>
          <a:p>
            <a:pPr marL="342900" indent="-342900"/>
            <a:endParaRPr lang="en-US" altLang="en-US" sz="2800" dirty="0"/>
          </a:p>
          <a:p>
            <a:pPr marL="342900" indent="-342900"/>
            <a:r>
              <a:rPr lang="en-US" altLang="en-US" sz="2800" b="1" dirty="0"/>
              <a:t>Limitations</a:t>
            </a:r>
            <a:r>
              <a:rPr lang="en-US" altLang="en-US" sz="2800" dirty="0"/>
              <a:t> – Points out the challenges and constraints faced in the system.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70" y="2788920"/>
            <a:ext cx="11138535" cy="1724025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Segoe UI Light" panose="020B0502040204020203" pitchFamily="34" charset="0"/>
                <a:cs typeface="Segoe UI Light" panose="020B0502040204020203" pitchFamily="34" charset="0"/>
                <a:sym typeface="+mn-ea"/>
              </a:rPr>
              <a:t>Conclusion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45" y="0"/>
            <a:ext cx="1113155" cy="117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Conclusion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966" y="1468301"/>
            <a:ext cx="10827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Summarize the main findings and contributions of the project.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70" y="2788920"/>
            <a:ext cx="11138535" cy="1724025"/>
          </a:xfrm>
        </p:spPr>
        <p:txBody>
          <a:bodyPr>
            <a:normAutofit/>
          </a:bodyPr>
          <a:lstStyle/>
          <a:p>
            <a:r>
              <a:rPr lang="en-US" altLang="en-US" sz="7200" b="1" dirty="0">
                <a:latin typeface="Segoe UI Light" panose="020B0502040204020203" pitchFamily="34" charset="0"/>
                <a:cs typeface="Segoe UI Light" panose="020B0502040204020203" pitchFamily="34" charset="0"/>
                <a:sym typeface="+mn-ea"/>
              </a:rPr>
              <a:t>Future Scope</a:t>
            </a:r>
            <a:endParaRPr lang="en-US" sz="7200" b="1" dirty="0">
              <a:latin typeface="Segoe UI Light" panose="020B0502040204020203" pitchFamily="34" charset="0"/>
              <a:cs typeface="Segoe UI Light" panose="020B0502040204020203" pitchFamily="34" charset="0"/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45" y="0"/>
            <a:ext cx="1113155" cy="117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alt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Future Scope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21335" y="1464945"/>
            <a:ext cx="1135443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/>
              <a:t>Future Scope – Explores possible enhancements and extensions to improve the system further.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070" y="2788920"/>
            <a:ext cx="11138535" cy="1724025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Segoe UI Light" panose="020B0502040204020203" pitchFamily="34" charset="0"/>
                <a:cs typeface="Segoe UI Light" panose="020B0502040204020203" pitchFamily="34" charset="0"/>
                <a:sym typeface="+mn-ea"/>
              </a:rPr>
              <a:t>References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845" y="0"/>
            <a:ext cx="1113155" cy="117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References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730" y="1089025"/>
            <a:ext cx="10998835" cy="49510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/>
              <a:t>All references should be arranged based on the year of publications. With latest year on top.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en-US" dirty="0"/>
              <a:t>References can include books/ research papers/white papers/websites/</a:t>
            </a:r>
            <a:r>
              <a:rPr lang="en-GB" altLang="en-US" dirty="0" err="1"/>
              <a:t>casestudies</a:t>
            </a:r>
            <a:r>
              <a:rPr lang="en-GB" altLang="en-US" dirty="0"/>
              <a:t> etc..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2400" b="1" dirty="0"/>
              <a:t>Sample 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[1]  Rodríguez,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Germán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E., et al. "Cross-site scripting (XSS) attacks and mitigation: A survey." Computer Networks  	166 (2025): 106960.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[2]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Jemal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Ines, et al.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injection attack detection and prevention techniques using machine learning." International 	Journal of Applied Engineering Research 15.6 (2025): 	569-580.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[3]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Karacan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Hacer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and Mehmet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Sevri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"A novel data augmentation technique and deep learning model for web 	application security." IEEE Access 9 (2024): 150781-150797.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[4]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Alazmi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Suliman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and Daniel Conte De Leon. "A systematic literature review on the characteristics and 	effectiveness of web application vulnerability scanners." IEEE Access 10 (2023): 33200-33219.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[5]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Thinzar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Zin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Myint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"Effective Web Application Vulnerability Testing System Using 	Proposed 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XSS_SQL_Scanning_Algorithm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." 2023 IEEE Conference on Computer Applications (ICCA). 	IEEE, 2023.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[6]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Aljabri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Malak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et al. "Testing and Exploiting Tools to Improve OWASP Top Ten Security Vulnerabilities 	Detection." 2022 14th International Conference on Computational Intelligence and Communication 	Networks (CICN). IEEE, 2022.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315" y="-53340"/>
            <a:ext cx="1035685" cy="1091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572895" y="2931160"/>
            <a:ext cx="9735820" cy="3084830"/>
          </a:xfrm>
        </p:spPr>
        <p:txBody>
          <a:bodyPr>
            <a:normAutofit fontScale="97500"/>
          </a:bodyPr>
          <a:lstStyle/>
          <a:p>
            <a:pPr marL="0" indent="0" algn="ctr">
              <a:lnSpc>
                <a:spcPts val="3600"/>
              </a:lnSpc>
              <a:spcAft>
                <a:spcPts val="0"/>
              </a:spcAft>
              <a:buNone/>
            </a:pPr>
            <a:endParaRPr lang="en-US" sz="115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ctr">
              <a:lnSpc>
                <a:spcPts val="3600"/>
              </a:lnSpc>
              <a:spcAft>
                <a:spcPts val="0"/>
              </a:spcAft>
              <a:buNone/>
            </a:pPr>
            <a:endParaRPr lang="en-US" sz="166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ctr">
              <a:lnSpc>
                <a:spcPts val="3600"/>
              </a:lnSpc>
              <a:spcAft>
                <a:spcPts val="0"/>
              </a:spcAft>
              <a:buNone/>
            </a:pPr>
            <a:r>
              <a:rPr lang="en-US" sz="166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Thank You</a:t>
            </a:r>
          </a:p>
          <a:p>
            <a:pPr marL="0" indent="0" algn="ctr">
              <a:lnSpc>
                <a:spcPts val="3600"/>
              </a:lnSpc>
              <a:spcAft>
                <a:spcPts val="0"/>
              </a:spcAft>
              <a:buNone/>
            </a:pPr>
            <a:endParaRPr lang="en-US" sz="166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353174" y="6181386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E8C63A-4744-4DE4-BB49-0FF0B5375C60}">
  <ds:schemaRefs/>
</ds:datastoreItem>
</file>

<file path=customXml/itemProps2.xml><?xml version="1.0" encoding="utf-8"?>
<ds:datastoreItem xmlns:ds="http://schemas.openxmlformats.org/officeDocument/2006/customXml" ds:itemID="{950072C5-DDE0-4258-BA7A-4D4B80DFA632}">
  <ds:schemaRefs/>
</ds:datastoreItem>
</file>

<file path=customXml/itemProps3.xml><?xml version="1.0" encoding="utf-8"?>
<ds:datastoreItem xmlns:ds="http://schemas.openxmlformats.org/officeDocument/2006/customXml" ds:itemID="{FD7FC771-7DFE-49DA-B577-71181BFBCB2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1685</Words>
  <Application>Microsoft Office PowerPoint</Application>
  <PresentationFormat>Widescreen</PresentationFormat>
  <Paragraphs>169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Segoe UI Light</vt:lpstr>
      <vt:lpstr>Source Sans Pro</vt:lpstr>
      <vt:lpstr>Times New Roman</vt:lpstr>
      <vt:lpstr>Wingdings</vt:lpstr>
      <vt:lpstr>Office Theme</vt:lpstr>
      <vt:lpstr>AIKTC – Anjuman-I-Islam’s Kalsekar Technical Campus. Department of Electronics and Computer Science Engineering</vt:lpstr>
      <vt:lpstr>Outline</vt:lpstr>
      <vt:lpstr>Introduction</vt:lpstr>
      <vt:lpstr>Introduction</vt:lpstr>
      <vt:lpstr>Introduction</vt:lpstr>
      <vt:lpstr>Literature Survey</vt:lpstr>
      <vt:lpstr>Literature Survey</vt:lpstr>
      <vt:lpstr>Literature Survey</vt:lpstr>
      <vt:lpstr>Literature Survey</vt:lpstr>
      <vt:lpstr>Limitations of Existing System</vt:lpstr>
      <vt:lpstr>Limitations of Existing System</vt:lpstr>
      <vt:lpstr>Problem Statement</vt:lpstr>
      <vt:lpstr>Problem Statement</vt:lpstr>
      <vt:lpstr>Proposed Methodology / Techniques</vt:lpstr>
      <vt:lpstr>Proposed Methodology /Techniques</vt:lpstr>
      <vt:lpstr>System Design and Architecture</vt:lpstr>
      <vt:lpstr> System Design and Architecture</vt:lpstr>
      <vt:lpstr>Implementation Details / Tools &amp; Technologies Used</vt:lpstr>
      <vt:lpstr>Implementation Details / Tools &amp; Technologies Used</vt:lpstr>
      <vt:lpstr>Result Analysis  / Output Screenshots</vt:lpstr>
      <vt:lpstr>Result Analysis  / Output Screenshots</vt:lpstr>
      <vt:lpstr>Road Map</vt:lpstr>
      <vt:lpstr>Road Map</vt:lpstr>
      <vt:lpstr>Advantages &amp; Limitations</vt:lpstr>
      <vt:lpstr>Advantages &amp; Limitations</vt:lpstr>
      <vt:lpstr>Conclusion</vt:lpstr>
      <vt:lpstr>Conclusion</vt:lpstr>
      <vt:lpstr>Future Scope</vt:lpstr>
      <vt:lpstr>Future Scope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</cp:revision>
  <dcterms:created xsi:type="dcterms:W3CDTF">2020-03-20T15:04:00Z</dcterms:created>
  <dcterms:modified xsi:type="dcterms:W3CDTF">2026-02-18T11:37:21Z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E022179170CA44E9902D014E503186D5_13</vt:lpwstr>
  </property>
  <property fmtid="{D5CDD505-2E9C-101B-9397-08002B2CF9AE}" pid="4" name="KSOProductBuildVer">
    <vt:lpwstr>1033-12.2.0.22549</vt:lpwstr>
  </property>
</Properties>
</file>